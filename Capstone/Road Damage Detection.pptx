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258" r:id="rId4"/>
    <p:sldId id="261" r:id="rId5"/>
    <p:sldId id="259" r:id="rId6"/>
    <p:sldId id="277" r:id="rId7"/>
    <p:sldId id="278" r:id="rId8"/>
    <p:sldId id="279" r:id="rId9"/>
    <p:sldId id="280" r:id="rId10"/>
    <p:sldId id="264" r:id="rId11"/>
    <p:sldId id="263" r:id="rId12"/>
    <p:sldId id="281" r:id="rId13"/>
    <p:sldId id="282" r:id="rId14"/>
    <p:sldId id="273" r:id="rId15"/>
    <p:sldId id="274" r:id="rId16"/>
    <p:sldId id="275" r:id="rId17"/>
    <p:sldId id="283" r:id="rId18"/>
    <p:sldId id="265" r:id="rId19"/>
    <p:sldId id="267" r:id="rId20"/>
    <p:sldId id="268" r:id="rId21"/>
    <p:sldId id="269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EE42C-C943-4F3D-AC3F-430A723B93F1}" v="32" dt="2026-08-19T05:03:56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-82"/>
      </p:cViewPr>
      <p:guideLst>
        <p:guide orient="horz" pos="28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yam Harshini" userId="ecab1de23fba2713" providerId="LiveId" clId="{4A08FEFE-5902-43E3-ACAF-BA41C118DA91}"/>
    <pc:docChg chg="undo custSel modSld">
      <pc:chgData name="Balyam Harshini" userId="ecab1de23fba2713" providerId="LiveId" clId="{4A08FEFE-5902-43E3-ACAF-BA41C118DA91}" dt="2026-08-19T05:03:30.564" v="71" actId="20577"/>
      <pc:docMkLst>
        <pc:docMk/>
      </pc:docMkLst>
      <pc:sldChg chg="modSp mod">
        <pc:chgData name="Balyam Harshini" userId="ecab1de23fba2713" providerId="LiveId" clId="{4A08FEFE-5902-43E3-ACAF-BA41C118DA91}" dt="2026-08-19T05:03:30.564" v="71" actId="20577"/>
        <pc:sldMkLst>
          <pc:docMk/>
          <pc:sldMk cId="0" sldId="256"/>
        </pc:sldMkLst>
        <pc:spChg chg="mod">
          <ac:chgData name="Balyam Harshini" userId="ecab1de23fba2713" providerId="LiveId" clId="{4A08FEFE-5902-43E3-ACAF-BA41C118DA91}" dt="2026-08-19T05:03:30.564" v="7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alyam Harshini" userId="ecab1de23fba2713" providerId="LiveId" clId="{4A08FEFE-5902-43E3-ACAF-BA41C118DA91}" dt="2026-08-19T04:49:28.174" v="0" actId="1076"/>
        <pc:sldMkLst>
          <pc:docMk/>
          <pc:sldMk cId="0" sldId="260"/>
        </pc:sldMkLst>
        <pc:spChg chg="mod">
          <ac:chgData name="Balyam Harshini" userId="ecab1de23fba2713" providerId="LiveId" clId="{4A08FEFE-5902-43E3-ACAF-BA41C118DA91}" dt="2026-08-19T04:49:28.174" v="0" actId="1076"/>
          <ac:spMkLst>
            <pc:docMk/>
            <pc:sldMk cId="0" sldId="260"/>
            <ac:spMk id="7" creationId="{291272DA-96C0-04B9-702A-B7DEA8B3018E}"/>
          </ac:spMkLst>
        </pc:spChg>
      </pc:sldChg>
      <pc:sldChg chg="modSp mod">
        <pc:chgData name="Balyam Harshini" userId="ecab1de23fba2713" providerId="LiveId" clId="{4A08FEFE-5902-43E3-ACAF-BA41C118DA91}" dt="2026-08-19T05:03:00.487" v="70"/>
        <pc:sldMkLst>
          <pc:docMk/>
          <pc:sldMk cId="0" sldId="264"/>
        </pc:sldMkLst>
        <pc:graphicFrameChg chg="mod modGraphic">
          <ac:chgData name="Balyam Harshini" userId="ecab1de23fba2713" providerId="LiveId" clId="{4A08FEFE-5902-43E3-ACAF-BA41C118DA91}" dt="2026-08-19T05:03:00.487" v="70"/>
          <ac:graphicFrameMkLst>
            <pc:docMk/>
            <pc:sldMk cId="0" sldId="264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D9CAF-DC26-419E-8B11-09857B664346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B2DE9-CA67-4F69-BBF5-40D6815671C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10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B2DE9-CA67-4F69-BBF5-40D6815671C9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2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9192" y="572770"/>
            <a:ext cx="275361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660A5-0425-48E4-ADC2-E34D432CF46C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F78E6-B702-4E41-99C2-C7412D0AE127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25578-4847-4DDD-9274-39BF572D8DA4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BD8FF-AFC4-4FE2-873C-D44C008BBA09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203AB-E2F2-437F-8698-2FF50D4170E7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1BE96-81BF-4F5D-9409-2DE07D127FE8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1086" y="399034"/>
            <a:ext cx="4031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SIMATS</a:t>
            </a:r>
            <a:r>
              <a:rPr sz="2800" spc="-140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514600" y="1113060"/>
            <a:ext cx="7479665" cy="32457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sz="2400" b="1" dirty="0">
              <a:latin typeface="Times New Roman" panose="02020603050405020304"/>
              <a:cs typeface="Times New Roman" panose="02020603050405020304"/>
            </a:endParaRP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AI-Driven Road Damage Detection and Severity Assessment Using YOLO-Based Deep Object Detection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sz="2000" b="1" dirty="0">
              <a:latin typeface="Times New Roman" panose="02020603050405020304"/>
              <a:cs typeface="Times New Roman" panose="02020603050405020304"/>
            </a:endParaRPr>
          </a:p>
          <a:p>
            <a:pPr marL="9525" algn="ctr">
              <a:tabLst>
                <a:tab pos="1059815" algn="l"/>
              </a:tabLs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CSA1707 - ARTIFICIAL INTELLIGENCE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lang="en-IN"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5039997"/>
            <a:ext cx="3042412" cy="99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lang="en-US" b="1" spc="-25" dirty="0">
                <a:latin typeface="Times New Roman" panose="02020603050405020304"/>
                <a:cs typeface="Times New Roman" panose="02020603050405020304"/>
              </a:rPr>
              <a:t>:-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25" dirty="0">
                <a:latin typeface="Times New Roman" panose="02020603050405020304"/>
                <a:cs typeface="Times New Roman" panose="02020603050405020304"/>
              </a:rPr>
              <a:t>Dr. R.Veeramani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b="1" spc="-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1800" y="4848746"/>
            <a:ext cx="5313680" cy="1417696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b="1" spc="-4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lang="en-US" b="1" spc="-25" dirty="0">
              <a:solidFill>
                <a:srgbClr val="0C0C0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lang="en-IN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K Tejaswi(192371036)</a:t>
            </a: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lang="en-IN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 Harshini(192371088)</a:t>
            </a: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lang="en-IN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A Sai Swetha(192319072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255" y="475615"/>
            <a:ext cx="1134694" cy="13423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47555" y="328929"/>
            <a:ext cx="151955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521660"/>
            <a:ext cx="7497064" cy="681340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7391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1272DA-96C0-04B9-702A-B7DEA8B3018E}"/>
              </a:ext>
            </a:extLst>
          </p:cNvPr>
          <p:cNvSpPr txBox="1"/>
          <p:nvPr/>
        </p:nvSpPr>
        <p:spPr>
          <a:xfrm>
            <a:off x="609600" y="1371600"/>
            <a:ext cx="1005840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Road damage such as potholes, cracks, and surface deterioration is a major problem that affects vehicle safety, transportation efficiency, and road maintenance.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Traditional road inspection methods depend heavily on manual surveys, which are time-consuming, expensive, and sometimes subjective.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proposed project uses </a:t>
            </a:r>
            <a:r>
              <a:rPr lang="en-IN" sz="2000" b="1" dirty="0"/>
              <a:t>Artificial Intelligence and YOLO-based deep object detection</a:t>
            </a:r>
            <a:r>
              <a:rPr lang="en-IN" sz="2000" dirty="0"/>
              <a:t> to automatically identify road damages from images or video.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system detects different types of road damage and estimates their severity as </a:t>
            </a:r>
            <a:r>
              <a:rPr lang="en-IN" sz="2000" b="1" dirty="0"/>
              <a:t>low, medium, or high</a:t>
            </a:r>
            <a:r>
              <a:rPr lang="en-IN" sz="2000" dirty="0"/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This helps authorities prioritize road repairs and enables faster, more accurate, and data-driven road maintenance.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1564" y="6858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46888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ABSTRACT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16929" y="1676400"/>
            <a:ext cx="8422271" cy="46550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CBFB5-E0B7-9B82-EB3E-2CF6522ECD18}"/>
              </a:ext>
            </a:extLst>
          </p:cNvPr>
          <p:cNvSpPr txBox="1"/>
          <p:nvPr/>
        </p:nvSpPr>
        <p:spPr>
          <a:xfrm>
            <a:off x="685800" y="1991319"/>
            <a:ext cx="1036320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Road damage</a:t>
            </a:r>
            <a:r>
              <a:rPr lang="en-IN" sz="2000" dirty="0"/>
              <a:t>, such as potholes and cracks, affects vehicle safety, road quality, and transportation efficiency.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Traditional </a:t>
            </a:r>
            <a:r>
              <a:rPr lang="en-IN" sz="2000" b="1" dirty="0"/>
              <a:t>manual road inspection</a:t>
            </a:r>
            <a:r>
              <a:rPr lang="en-IN" sz="2000" dirty="0"/>
              <a:t> is time-consuming, costly, and may produce inconsistent results.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proposed system uses </a:t>
            </a:r>
            <a:r>
              <a:rPr lang="en-IN" sz="2000" b="1" dirty="0"/>
              <a:t>Artificial Intelligence and YOLO-based deep object detection</a:t>
            </a:r>
            <a:r>
              <a:rPr lang="en-IN" sz="2000" dirty="0"/>
              <a:t> to automatically identify road damage from images and videos.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system </a:t>
            </a:r>
            <a:r>
              <a:rPr lang="en-IN" sz="2000" b="1" dirty="0"/>
              <a:t>classifies different types of damage</a:t>
            </a:r>
            <a:r>
              <a:rPr lang="en-IN" sz="2000" dirty="0"/>
              <a:t> and provides bounding boxes with confidence scores.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system provides a </a:t>
            </a:r>
            <a:r>
              <a:rPr lang="en-IN" sz="2000" b="1" dirty="0"/>
              <a:t>fast, accurate, and scalable solution</a:t>
            </a:r>
            <a:r>
              <a:rPr lang="en-IN" sz="2000" dirty="0"/>
              <a:t> for road monitoring and can be extended with GPS, GIS, IoT, and real-time vehicle-based detection.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5748" y="829311"/>
            <a:ext cx="7497064" cy="704214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C6B6B9F7-A960-B3FC-3C9D-2DD686A4ACF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73378" y="3974306"/>
            <a:ext cx="9909556" cy="4319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A19C3-D229-963B-73C2-6D2E7BEEFA37}"/>
              </a:ext>
            </a:extLst>
          </p:cNvPr>
          <p:cNvSpPr txBox="1"/>
          <p:nvPr/>
        </p:nvSpPr>
        <p:spPr>
          <a:xfrm>
            <a:off x="860491" y="2541117"/>
            <a:ext cx="10847578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/>
              <a:t> </a:t>
            </a:r>
            <a:r>
              <a:rPr lang="en-IN" sz="2000" b="1" dirty="0"/>
              <a:t>Problem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Road potholes and cracks cause accidents and vehicle damage.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road inspection is slow and costly.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Large road networks are difficult to inspect regularly.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Human assessment may be inaccurate or subjective.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Existing systems have limited real-time detection.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An AI-based YOLO system is needed for fast damage detection and severity assessment.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6137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OBJECTIVES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F4FCE-953B-7055-07CF-063F057E2D01}"/>
              </a:ext>
            </a:extLst>
          </p:cNvPr>
          <p:cNvSpPr txBox="1"/>
          <p:nvPr/>
        </p:nvSpPr>
        <p:spPr>
          <a:xfrm>
            <a:off x="685800" y="1905000"/>
            <a:ext cx="10618978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Automatic Road Damage Detection:</a:t>
            </a:r>
            <a:r>
              <a:rPr lang="en-IN" sz="2000" dirty="0"/>
              <a:t> Detect potholes, cracks, and other road damages automatically using a YOLO-based deep learning model.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Damage Classification:</a:t>
            </a:r>
            <a:r>
              <a:rPr lang="en-IN" sz="2000" dirty="0"/>
              <a:t> Identify and classify different types of road damage from images and video frames.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Reduce Manual Inspection:</a:t>
            </a:r>
            <a:r>
              <a:rPr lang="en-IN" sz="2000" dirty="0"/>
              <a:t> Minimize the time, cost, and human effort required for traditional road-condition surveys.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Improve Accuracy:</a:t>
            </a:r>
            <a:r>
              <a:rPr lang="en-IN" sz="2000" dirty="0"/>
              <a:t> Provide consistent and reliable road-damage detection using AI-based image analysis.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Support Road Maintenance:</a:t>
            </a:r>
            <a:r>
              <a:rPr lang="en-IN" sz="2000" dirty="0"/>
              <a:t> Help authorities prioritize damaged locations and make faster decisions for road repair and maintenance.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6137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Existing System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09500" y="1279431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65499-B085-75F7-C5C3-E09BC2EF2A83}"/>
              </a:ext>
            </a:extLst>
          </p:cNvPr>
          <p:cNvSpPr txBox="1"/>
          <p:nvPr/>
        </p:nvSpPr>
        <p:spPr>
          <a:xfrm>
            <a:off x="1025676" y="1325543"/>
            <a:ext cx="10314178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Manual Road Inspection:</a:t>
            </a:r>
            <a:r>
              <a:rPr lang="en-IN" sz="2000" dirty="0"/>
              <a:t> Road conditions are inspected manually by engineers or maintenance workers.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Periodic Surveys:</a:t>
            </a:r>
            <a:r>
              <a:rPr lang="en-IN" sz="2000" dirty="0"/>
              <a:t> Roads are checked at fixed intervals, which may not identify newly developed damage quickly.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Manual Damage Classification:</a:t>
            </a:r>
            <a:r>
              <a:rPr lang="en-IN" sz="2000" dirty="0"/>
              <a:t> Potholes and cracks are identified and categorized based on human observation.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Time and Cost Intensive:</a:t>
            </a:r>
            <a:r>
              <a:rPr lang="en-IN" sz="2000" dirty="0"/>
              <a:t> Large road networks require significant manpower, time, and resources for inspection.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Limited Real-Time Monitoring:</a:t>
            </a:r>
            <a:r>
              <a:rPr lang="en-IN" sz="2000" dirty="0"/>
              <a:t> Existing methods generally cannot continuously monitor roads or provide instant damage detection.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62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6137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Existing System Drawback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7DB0E-B123-5835-56B2-E54039431EE1}"/>
              </a:ext>
            </a:extLst>
          </p:cNvPr>
          <p:cNvSpPr txBox="1"/>
          <p:nvPr/>
        </p:nvSpPr>
        <p:spPr>
          <a:xfrm>
            <a:off x="990600" y="1828800"/>
            <a:ext cx="944880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sz="2000" b="1" dirty="0"/>
          </a:p>
          <a:p>
            <a:pPr>
              <a:lnSpc>
                <a:spcPct val="150000"/>
              </a:lnSpc>
            </a:pPr>
            <a:r>
              <a:rPr lang="en-IN" sz="2000" b="1" dirty="0"/>
              <a:t>Drawbacks:</a:t>
            </a:r>
            <a:endParaRPr lang="en-I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Time-consuming manual inspection.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Requires significant manpower.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Assessment can be subjective.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Difficult to monitor large road networks.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Delayed identification of serious damage.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Limited real-time detection capability.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3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6137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Proposed System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FE361-F7AD-A13D-52BA-175F4AAF3DF9}"/>
              </a:ext>
            </a:extLst>
          </p:cNvPr>
          <p:cNvSpPr txBox="1"/>
          <p:nvPr/>
        </p:nvSpPr>
        <p:spPr>
          <a:xfrm>
            <a:off x="924217" y="1656915"/>
            <a:ext cx="10515600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In the existing system, road condition monitoring is mainly performed through: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inspection by road maintenance personnel.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Periodic physical surveys.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Citizen complaints and photographs.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Basic image-processing techniques.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Separate systems for detecting different types of road damage.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estimation of damage severity.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 collected information is generally analyzed manually before maintenance decisions are made.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51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6137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Proposed System features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8676B-C0A8-DC7F-2C65-384771F6F1F5}"/>
              </a:ext>
            </a:extLst>
          </p:cNvPr>
          <p:cNvSpPr txBox="1"/>
          <p:nvPr/>
        </p:nvSpPr>
        <p:spPr>
          <a:xfrm>
            <a:off x="685800" y="2022663"/>
            <a:ext cx="10515600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Automatic road-damage detection.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Pothole and crack classification.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Bounding-box visualization.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Confidence-score display.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Severity classification.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Image and video processing.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Detection-result storage.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Maintenance-priority generation.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733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616" y="761801"/>
            <a:ext cx="4744026" cy="681340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LITERATURE REVIEW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r="2345" b="18684"/>
          <a:stretch>
            <a:fillRect/>
          </a:stretch>
        </p:blipFill>
        <p:spPr>
          <a:xfrm>
            <a:off x="1447706" y="1599954"/>
            <a:ext cx="9207685" cy="48960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B07EA7-4AA8-FF7A-D685-AF80A080E057}"/>
              </a:ext>
            </a:extLst>
          </p:cNvPr>
          <p:cNvSpPr txBox="1"/>
          <p:nvPr/>
        </p:nvSpPr>
        <p:spPr>
          <a:xfrm>
            <a:off x="1255649" y="1975504"/>
            <a:ext cx="967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349713"/>
              </p:ext>
            </p:extLst>
          </p:nvPr>
        </p:nvGraphicFramePr>
        <p:xfrm>
          <a:off x="609600" y="1599954"/>
          <a:ext cx="10814169" cy="506691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53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0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9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49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Times New Roman" pitchFamily="18" charset="0"/>
                          <a:cs typeface="Times New Roman" pitchFamily="18" charset="0"/>
                        </a:rPr>
                        <a:t>Paper /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Times New Roman" pitchFamily="18" charset="0"/>
                          <a:cs typeface="Times New Roman" pitchFamily="18" charset="0"/>
                        </a:rPr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Times New Roman" pitchFamily="18" charset="0"/>
                          <a:cs typeface="Times New Roman" pitchFamily="18" charset="0"/>
                        </a:rPr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Times New Roman" pitchFamily="18" charset="0"/>
                          <a:cs typeface="Times New Roman" pitchFamily="18" charset="0"/>
                        </a:rPr>
                        <a:t>Disadvantage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Times New Roman" pitchFamily="18" charset="0"/>
                          <a:cs typeface="Times New Roman" pitchFamily="18" charset="0"/>
                        </a:rPr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Times New Roman" pitchFamily="18" charset="0"/>
                          <a:cs typeface="Times New Roman" pitchFamily="18" charset="0"/>
                        </a:rPr>
                        <a:t>Helpful for Our 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2022</a:t>
                      </a: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Automated Road Crack Detection Using Deep Neural Networks</a:t>
                      </a: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CNN-based image classification and object detection</a:t>
                      </a: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Provides automated and consistent crack identification</a:t>
                      </a: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Mainly focuses on cracks and may not detect all types of road damage</a:t>
                      </a: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Deep neural networks achieved effective crack detection from road images</a:t>
                      </a: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Yes</a:t>
                      </a:r>
                      <a:r>
                        <a:rPr lang="en-IN" sz="1400" dirty="0"/>
                        <a:t> – Useful for identifying and categorizing road cracks.</a:t>
                      </a:r>
                      <a:endParaRPr lang="en-IN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Deep Learning-Based Road Damage Detection Using YOLO</a:t>
                      </a:r>
                      <a:endParaRPr lang="en-IN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YOLO object detection with deep convolutional neural networks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Real-time detection with good accuracy and faster processing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Requires a sufficiently large and diverse annotated dataset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Successfully detects different categories of road damage from images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Yes</a:t>
                      </a:r>
                      <a:r>
                        <a:rPr lang="en-IN" sz="1300" dirty="0"/>
                        <a:t> – Helps in selecting YOLO for efficient real-time road damage detection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016">
                <a:tc>
                  <a:txBody>
                    <a:bodyPr/>
                    <a:lstStyle/>
                    <a:p>
                      <a:r>
                        <a:rPr lang="en-IN" sz="1300" dirty="0"/>
                        <a:t>2022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Road Damage Detection Using Deep Learning and Computer Vision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CNN, YOLO and image-processing techniques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Automates road inspection and reduces manual monitoring effort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Detection accuracy is affected by complex backgrounds and environmental conditions</a:t>
                      </a:r>
                      <a:endParaRPr lang="en-IN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Deep-learning models effectively identify cracks and potholes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Yes</a:t>
                      </a:r>
                      <a:r>
                        <a:rPr lang="en-IN" sz="1300" dirty="0"/>
                        <a:t> – Supports the use of computer vision for automated road inspection.</a:t>
                      </a:r>
                      <a:endParaRPr lang="en-GB" sz="13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7467" y="399034"/>
            <a:ext cx="7497064" cy="565924"/>
          </a:xfrm>
          <a:prstGeom prst="rect">
            <a:avLst/>
          </a:prstGeom>
        </p:spPr>
        <p:txBody>
          <a:bodyPr vert="horz" wrap="square" lIns="0" tIns="72771" rIns="0" bIns="0" rtlCol="0">
            <a:spAutoFit/>
          </a:bodyPr>
          <a:lstStyle/>
          <a:p>
            <a:pPr marL="180721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SYSTEM DESIGN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820" y="1447800"/>
            <a:ext cx="8407400" cy="425704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9C69C3-FAB1-E17E-7CB9-152A30182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096" y="1447800"/>
            <a:ext cx="8015123" cy="52248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59BF-00FA-5D3E-E46E-1F46575B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685800"/>
            <a:ext cx="2362200" cy="492443"/>
          </a:xfrm>
        </p:spPr>
        <p:txBody>
          <a:bodyPr/>
          <a:lstStyle/>
          <a:p>
            <a:r>
              <a:rPr lang="en-US" dirty="0"/>
              <a:t>DATA SET</a:t>
            </a: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428B446-9F0F-40CA-D14E-33F219B020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988B780-CED4-5747-8966-37FB8FE149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CD0F42-F034-E6E9-542D-E4791D51101E}"/>
              </a:ext>
            </a:extLst>
          </p:cNvPr>
          <p:cNvSpPr txBox="1"/>
          <p:nvPr/>
        </p:nvSpPr>
        <p:spPr>
          <a:xfrm>
            <a:off x="1095953" y="1415484"/>
            <a:ext cx="10920730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A suitable dataset can contain road images collected from </a:t>
            </a:r>
            <a:r>
              <a:rPr lang="en-IN" b="1" dirty="0"/>
              <a:t>public road-damage datasets, vehicle-mounted cameras, smartphones, or manually captured images</a:t>
            </a:r>
            <a:r>
              <a:rPr lang="en-IN" dirty="0"/>
              <a:t>.</a:t>
            </a:r>
            <a:endParaRPr lang="en-IN" b="1" dirty="0"/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Dataset Preparation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Collect road images.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Remove poor-quality or duplicate images.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Annotate damaged regions using bounding boxes.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Assign appropriate damage classes.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Divide the dataset into: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Training set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Validation set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Testing set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Apply augmentation such as rotation, scaling, flipping and brightness variation.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Convert annotations into the format required by the selected YOLO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28566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59BF-00FA-5D3E-E46E-1F46575B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685800"/>
            <a:ext cx="2362200" cy="492443"/>
          </a:xfrm>
        </p:spPr>
        <p:txBody>
          <a:bodyPr/>
          <a:lstStyle/>
          <a:p>
            <a:r>
              <a:rPr lang="en-IN" dirty="0"/>
              <a:t>Technologies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4B463-38AD-59A8-48DF-049677633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782" y="1295400"/>
            <a:ext cx="9901535" cy="58477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End:</a:t>
            </a:r>
          </a:p>
          <a:p>
            <a:pPr lvl="0"/>
            <a:r>
              <a:rPr lang="en-IN" sz="2000" b="1" dirty="0"/>
              <a:t>HTML</a:t>
            </a:r>
            <a:r>
              <a:rPr lang="en-IN" sz="2000" dirty="0"/>
              <a:t> – Creates the web page structure. </a:t>
            </a:r>
          </a:p>
          <a:p>
            <a:pPr lvl="0"/>
            <a:r>
              <a:rPr lang="en-IN" sz="2000" b="1" dirty="0"/>
              <a:t>CSS</a:t>
            </a:r>
            <a:r>
              <a:rPr lang="en-IN" sz="2000" dirty="0"/>
              <a:t> – Provides styling and layout. </a:t>
            </a:r>
          </a:p>
          <a:p>
            <a:pPr lvl="0"/>
            <a:r>
              <a:rPr lang="en-IN" sz="2000" b="1" dirty="0"/>
              <a:t>JavaScript</a:t>
            </a:r>
            <a:r>
              <a:rPr lang="en-IN" sz="2000" dirty="0"/>
              <a:t> – Handles user interaction and image/video upload. </a:t>
            </a:r>
          </a:p>
          <a:p>
            <a:pPr lvl="0"/>
            <a:r>
              <a:rPr lang="en-IN" sz="2000" b="1" dirty="0"/>
              <a:t>Bootstrap</a:t>
            </a:r>
            <a:r>
              <a:rPr lang="en-IN" sz="2000" dirty="0"/>
              <a:t> – Used for responsive and user-friendly design. </a:t>
            </a:r>
          </a:p>
          <a:p>
            <a:pPr lvl="0"/>
            <a:r>
              <a:rPr lang="en-IN" sz="2000" b="1" dirty="0"/>
              <a:t>Streamlit</a:t>
            </a:r>
            <a:r>
              <a:rPr lang="en-IN" sz="2000" dirty="0"/>
              <a:t> – Can be used to create a simple AI detection interface.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lvl="0"/>
            <a:r>
              <a:rPr lang="en-IN" sz="2000" b="1" dirty="0"/>
              <a:t>Python</a:t>
            </a:r>
            <a:r>
              <a:rPr lang="en-IN" sz="2000" dirty="0"/>
              <a:t> – Main programming language. </a:t>
            </a:r>
          </a:p>
          <a:p>
            <a:pPr lvl="0"/>
            <a:r>
              <a:rPr lang="en-IN" sz="2000" b="1" dirty="0"/>
              <a:t>Flask</a:t>
            </a:r>
            <a:r>
              <a:rPr lang="en-IN" sz="2000" dirty="0"/>
              <a:t> – Connects the frontend with the AI model. </a:t>
            </a:r>
          </a:p>
          <a:p>
            <a:pPr lvl="0"/>
            <a:r>
              <a:rPr lang="en-IN" sz="2000" b="1" dirty="0"/>
              <a:t>YOLO</a:t>
            </a:r>
            <a:r>
              <a:rPr lang="en-IN" sz="2000" dirty="0"/>
              <a:t> – Detects potholes, cracks, and other road damages. </a:t>
            </a:r>
          </a:p>
          <a:p>
            <a:pPr lvl="0"/>
            <a:r>
              <a:rPr lang="en-IN" sz="2000" b="1" dirty="0"/>
              <a:t>OpenCV</a:t>
            </a:r>
            <a:r>
              <a:rPr lang="en-IN" sz="2000" dirty="0"/>
              <a:t> – Processes images and video frames. </a:t>
            </a:r>
          </a:p>
          <a:p>
            <a:pPr lvl="0"/>
            <a:r>
              <a:rPr lang="en-IN" sz="2000" b="1" dirty="0"/>
              <a:t>PyTorch</a:t>
            </a:r>
            <a:r>
              <a:rPr lang="en-IN" sz="2000" dirty="0"/>
              <a:t> – Supports YOLO model training and inference. </a:t>
            </a:r>
          </a:p>
          <a:p>
            <a:pPr lvl="0"/>
            <a:r>
              <a:rPr lang="en-IN" sz="2000" b="1" dirty="0"/>
              <a:t>Database</a:t>
            </a:r>
            <a:r>
              <a:rPr lang="en-IN" sz="2000" dirty="0"/>
              <a:t> – Stores detection results, severity, and related information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Google Colab / Jupyter Notebook-model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MySQL / MongoDB –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VS Code-development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428B446-9F0F-40CA-D14E-33F219B020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988B780-CED4-5747-8966-37FB8FE149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7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583833"/>
            <a:ext cx="80010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IN" dirty="0"/>
              <a:t>Image Acquisition &amp;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2088C7B-CAEB-97CA-B317-D13F79289D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DD40B100-D3B7-718B-29E1-C61C4B3B68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B00F07D-3C1B-E326-5E1A-56ED2F93BE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3820389"/>
            <a:ext cx="83057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443A8-B103-8865-A63D-DF3189C93988}"/>
              </a:ext>
            </a:extLst>
          </p:cNvPr>
          <p:cNvSpPr txBox="1"/>
          <p:nvPr/>
        </p:nvSpPr>
        <p:spPr>
          <a:xfrm>
            <a:off x="950721" y="1752600"/>
            <a:ext cx="10515600" cy="5269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This module collects road images or video frames from cameras or uploaded files.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Functions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Image upload.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Frame extraction from video.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Image resizing.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Noise reduction.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Normalization.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Data augmentation. 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Input:</a:t>
            </a:r>
            <a:r>
              <a:rPr lang="en-IN" sz="2000" dirty="0"/>
              <a:t> Road image/video</a:t>
            </a:r>
            <a:br>
              <a:rPr lang="en-IN" sz="2000" dirty="0"/>
            </a:br>
            <a:r>
              <a:rPr lang="en-IN" sz="2000" b="1" dirty="0"/>
              <a:t>Output:</a:t>
            </a:r>
            <a:r>
              <a:rPr lang="en-IN" sz="2000" dirty="0"/>
              <a:t> Preprocessed image/frame</a:t>
            </a: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1" y="616993"/>
            <a:ext cx="8761094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dirty="0"/>
              <a:t>YOLO-Based Road Damage Detection</a:t>
            </a: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F64864FD-F7D5-3CA2-F1EB-C81F6CA8FB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0ECDDDE-4780-4F79-9174-8809228540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45F4DFA-BC67-E3E9-8581-F2DF5FBDE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1521024"/>
            <a:ext cx="9644423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This is the main AI module.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trained YOLO model processes the image and identifies road-damage objects. It generates: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Bounding boxes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Damage class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Confidence score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Object location </a:t>
            </a:r>
          </a:p>
          <a:p>
            <a:pPr lvl="0"/>
            <a:r>
              <a:rPr lang="en-IN" sz="2000" dirty="0"/>
              <a:t>Example:</a:t>
            </a:r>
          </a:p>
          <a:p>
            <a:pPr rtl="0"/>
            <a:r>
              <a:rPr lang="en-IN" sz="2000" dirty="0"/>
              <a:t>Input Image</a:t>
            </a:r>
          </a:p>
          <a:p>
            <a:pPr rtl="0"/>
            <a:r>
              <a:rPr lang="en-IN" sz="2000" dirty="0"/>
              <a:t>     ↓</a:t>
            </a:r>
          </a:p>
          <a:p>
            <a:pPr rtl="0"/>
            <a:r>
              <a:rPr lang="en-IN" sz="2000" dirty="0"/>
              <a:t>YOLO Model</a:t>
            </a:r>
          </a:p>
          <a:p>
            <a:pPr rtl="0"/>
            <a:r>
              <a:rPr lang="en-IN" sz="2000" dirty="0"/>
              <a:t>     ↓</a:t>
            </a:r>
          </a:p>
          <a:p>
            <a:pPr rtl="0"/>
            <a:r>
              <a:rPr lang="en-IN" sz="2000" dirty="0"/>
              <a:t> Pothole – 92% confidence  </a:t>
            </a:r>
          </a:p>
          <a:p>
            <a:pPr rtl="0"/>
            <a:r>
              <a:rPr lang="en-IN" sz="2000" dirty="0"/>
              <a:t> Crack – 87% confidence     </a:t>
            </a:r>
          </a:p>
          <a:p>
            <a:pPr rtl="0"/>
            <a:endParaRPr lang="en-IN" sz="2000" dirty="0"/>
          </a:p>
          <a:p>
            <a:pPr marR="0" lvl="0" algn="l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990600"/>
            <a:ext cx="10862187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/>
              <a:t>Severity Assessment and Reporting</a:t>
            </a:r>
            <a:br>
              <a:rPr lang="en-IN" dirty="0"/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45BA46D5-5165-2148-A254-0673F9F436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350E0C2B-AE87-9B5D-80F8-215C958282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C28623D-74F6-05C0-2EDA-C7BC48C6C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1662906"/>
            <a:ext cx="8513506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This module determines the seriousness of detected road damage.</a:t>
            </a:r>
          </a:p>
          <a:p>
            <a:r>
              <a:rPr lang="en-IN" sz="2000" b="1" dirty="0"/>
              <a:t>Severity Levels</a:t>
            </a:r>
          </a:p>
          <a:p>
            <a:r>
              <a:rPr lang="en-IN" sz="2000" b="1" dirty="0"/>
              <a:t>Low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Small damaged region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Minor cracks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Low maintenance priority </a:t>
            </a:r>
          </a:p>
          <a:p>
            <a:r>
              <a:rPr lang="en-IN" sz="2000" b="1" dirty="0"/>
              <a:t>Medium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Moderate damage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Larger cracks or potholes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Requires planned repair </a:t>
            </a:r>
          </a:p>
          <a:p>
            <a:r>
              <a:rPr lang="en-IN" sz="2000" b="1" dirty="0"/>
              <a:t>High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Large potholes or extensive cracks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Significant road-safety risk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Requires urgent maintenance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detected results can be stored in a database and presented through a dashboard or generated report.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7CC4-4D4F-0A50-FD32-522B86B0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492443"/>
          </a:xfrm>
        </p:spPr>
        <p:txBody>
          <a:bodyPr/>
          <a:lstStyle/>
          <a:p>
            <a:r>
              <a:rPr lang="en-US" dirty="0"/>
              <a:t>                  Methodology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076AC-3DD3-F293-9237-1316EF7C1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95400"/>
            <a:ext cx="11658600" cy="542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2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1318895">
              <a:lnSpc>
                <a:spcPct val="100000"/>
              </a:lnSpc>
              <a:spcBef>
                <a:spcPts val="105"/>
              </a:spcBef>
            </a:pPr>
            <a:r>
              <a:rPr dirty="0"/>
              <a:t>RESULTS</a:t>
            </a:r>
            <a:r>
              <a:rPr spc="-5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DISCUSSION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A0CF41-A216-C088-51CB-F6D9BA69163E}"/>
              </a:ext>
            </a:extLst>
          </p:cNvPr>
          <p:cNvSpPr txBox="1"/>
          <p:nvPr/>
        </p:nvSpPr>
        <p:spPr>
          <a:xfrm>
            <a:off x="894400" y="1752600"/>
            <a:ext cx="102108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YOLO successfully detects road potholes and cracks.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Different damage types are classified automatically.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Damage severity is identified as </a:t>
            </a:r>
            <a:r>
              <a:rPr lang="en-IN" b="1" dirty="0"/>
              <a:t>Low, Medium, or High</a:t>
            </a:r>
            <a:r>
              <a:rPr lang="en-IN" dirty="0"/>
              <a:t>.</a:t>
            </a:r>
          </a:p>
          <a:p>
            <a:pPr marR="0" algn="just">
              <a:spcBef>
                <a:spcPts val="1200"/>
              </a:spcBef>
              <a:spcAft>
                <a:spcPts val="300"/>
              </a:spcAft>
            </a:pPr>
            <a:r>
              <a:rPr lang="en-IN" b="1" dirty="0"/>
              <a:t>Discussion</a:t>
            </a:r>
          </a:p>
          <a:p>
            <a:pPr marL="285750" marR="0" indent="-285750" algn="just"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dirty="0"/>
              <a:t>The results demonstrate that a YOLO-based approach can provide an </a:t>
            </a:r>
            <a:r>
              <a:rPr lang="en-IN" b="1" dirty="0"/>
              <a:t>efficient and automated alternative to manual road inspection</a:t>
            </a:r>
            <a:r>
              <a:rPr lang="en-IN" dirty="0"/>
              <a:t>. </a:t>
            </a:r>
          </a:p>
          <a:p>
            <a:pPr marL="285750" marR="0" indent="-285750" algn="just"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dirty="0"/>
              <a:t>The system can process different road conditions and identify multiple damages in a single image. </a:t>
            </a:r>
          </a:p>
          <a:p>
            <a:pPr marL="285750" marR="0" indent="-285750" algn="just"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dirty="0"/>
              <a:t>Performance may vary depending on image quality, lighting, weather conditions, camera angle, and the size of the damaged region. </a:t>
            </a:r>
          </a:p>
          <a:p>
            <a:pPr marL="285750" marR="0" indent="-285750" algn="just"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dirty="0"/>
              <a:t>Training with a larger and more diverse dataset can further improve detection accuracy and reliability.</a:t>
            </a:r>
            <a:endParaRPr lang="en-IN" sz="1800" b="0" i="0" dirty="0">
              <a:solidFill>
                <a:srgbClr val="0D0D0D"/>
              </a:solidFill>
              <a:effectLst/>
              <a:latin typeface="-apple-system-bod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7121" y="609600"/>
            <a:ext cx="7497064" cy="704214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105"/>
              </a:spcBef>
            </a:pPr>
            <a:r>
              <a:rPr dirty="0"/>
              <a:t>CONCLUSION</a:t>
            </a:r>
            <a:r>
              <a:rPr spc="-7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FUTURE</a:t>
            </a:r>
            <a:r>
              <a:rPr spc="-40" dirty="0"/>
              <a:t> </a:t>
            </a:r>
            <a:r>
              <a:rPr spc="-10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CC60E5-6497-6075-13DF-0B3F48905879}"/>
              </a:ext>
            </a:extLst>
          </p:cNvPr>
          <p:cNvSpPr txBox="1"/>
          <p:nvPr/>
        </p:nvSpPr>
        <p:spPr>
          <a:xfrm>
            <a:off x="1367471" y="1852221"/>
            <a:ext cx="9906000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AI-Driven Road Damage Detection and Severity Assessment System using YOLO</a:t>
            </a:r>
            <a:r>
              <a:rPr lang="en-IN" dirty="0"/>
              <a:t> provides an efficient approach for automatic road-condition monitoring.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By combining deep-learning-based object detection with severity assessment, the system can identify road damage quickly and assist authorities in prioritizing maintenance.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Integration with </a:t>
            </a:r>
            <a:r>
              <a:rPr lang="en-IN" b="1" dirty="0"/>
              <a:t>GPS/GIS</a:t>
            </a:r>
            <a:r>
              <a:rPr lang="en-IN" dirty="0"/>
              <a:t> to map damaged road locations.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Real-time detection using vehicle-mounted cameras.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Mobile application for road-condition reporting.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Integration with </a:t>
            </a:r>
            <a:r>
              <a:rPr lang="en-IN" b="1" dirty="0"/>
              <a:t>IoT sensors</a:t>
            </a:r>
            <a:r>
              <a:rPr lang="en-IN" dirty="0"/>
              <a:t> for additional road-condition data.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Predictive maintenance using historical road-damage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332" y="1488693"/>
            <a:ext cx="144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95" dirty="0">
                <a:latin typeface="Lucida Sans Unicode" panose="020B0602030504020204"/>
                <a:cs typeface="Lucida Sans Unicode" panose="020B0602030504020204"/>
              </a:rPr>
              <a:t>□</a:t>
            </a:r>
            <a:endParaRPr sz="1600" dirty="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4526127" y="974978"/>
            <a:ext cx="275361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04495"/>
            <a:ext cx="1134694" cy="13423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9675" y="408305"/>
            <a:ext cx="1519554" cy="1342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0D7453-FB65-3D25-BD37-67C33587453B}"/>
              </a:ext>
            </a:extLst>
          </p:cNvPr>
          <p:cNvSpPr txBox="1"/>
          <p:nvPr/>
        </p:nvSpPr>
        <p:spPr>
          <a:xfrm>
            <a:off x="1240332" y="1905000"/>
            <a:ext cx="10064446" cy="530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References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J. Redmon et al., </a:t>
            </a:r>
            <a:r>
              <a:rPr lang="en-IN" b="1" dirty="0"/>
              <a:t>“You Only Look Once: Unified, Real-Time Object Detection,”</a:t>
            </a:r>
            <a:r>
              <a:rPr lang="en-IN" dirty="0"/>
              <a:t> IEEE Conference on Computer Vision and Pattern Recognition (CVPR), 2025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J. Redmon and A. Farhadi, </a:t>
            </a:r>
            <a:r>
              <a:rPr lang="en-IN" b="1" dirty="0"/>
              <a:t>“YOLO9000: Better, Faster, Stronger,”</a:t>
            </a:r>
            <a:r>
              <a:rPr lang="en-IN" dirty="0"/>
              <a:t> IEEE Conference on Computer Vision and Pattern Recognition (CVPR), 2024.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J. Redmon and A. Farhadi, </a:t>
            </a:r>
            <a:r>
              <a:rPr lang="en-IN" b="1" dirty="0"/>
              <a:t>“YOLOv3: An Incremental Improvement,”</a:t>
            </a:r>
            <a:r>
              <a:rPr lang="en-IN" dirty="0"/>
              <a:t> arXiv preprint, 2018.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G. Jocher et al., </a:t>
            </a:r>
            <a:r>
              <a:rPr lang="en-IN" b="1" dirty="0"/>
              <a:t>“Ultralytics YOLO,”</a:t>
            </a:r>
            <a:r>
              <a:rPr lang="en-IN" dirty="0"/>
              <a:t> Ultralytics, 2026.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R. G. Maeda et al., </a:t>
            </a:r>
            <a:r>
              <a:rPr lang="en-IN" b="1" dirty="0"/>
              <a:t>“Road Damage Detection and Classification Using Deep Neural Networks with Smartphone Images,”</a:t>
            </a:r>
            <a:r>
              <a:rPr lang="en-IN" dirty="0"/>
              <a:t> Computer-Aided Civil and Infrastructure Engineering, 2015.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S. Arya et al., </a:t>
            </a:r>
            <a:r>
              <a:rPr lang="en-IN" b="1" dirty="0"/>
              <a:t>“RDD2022: A Multi-National Image Dataset for Automatic Road Damage Detection,”</a:t>
            </a:r>
            <a:r>
              <a:rPr lang="en-IN" dirty="0"/>
              <a:t> arXiv preprint, 2026.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5954" y="2056129"/>
            <a:ext cx="7806182" cy="3706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1555</Words>
  <Application>Microsoft Office PowerPoint</Application>
  <PresentationFormat>Widescreen</PresentationFormat>
  <Paragraphs>206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-apple-system-body</vt:lpstr>
      <vt:lpstr>Arial</vt:lpstr>
      <vt:lpstr>Calibri</vt:lpstr>
      <vt:lpstr>Lucida Sans Unicode</vt:lpstr>
      <vt:lpstr>Times New Roman</vt:lpstr>
      <vt:lpstr>Office Theme</vt:lpstr>
      <vt:lpstr>SIMATS ENGINEERING</vt:lpstr>
      <vt:lpstr>INTRODUCTION</vt:lpstr>
      <vt:lpstr>ABSTRACT</vt:lpstr>
      <vt:lpstr>PROBLEM STATEMENT</vt:lpstr>
      <vt:lpstr>OBJECTIVES</vt:lpstr>
      <vt:lpstr>Existing System</vt:lpstr>
      <vt:lpstr>Existing System Drawback</vt:lpstr>
      <vt:lpstr>Proposed System</vt:lpstr>
      <vt:lpstr>Proposed System features</vt:lpstr>
      <vt:lpstr>LITERATURE REVIEW</vt:lpstr>
      <vt:lpstr>SYSTEM DESIGN</vt:lpstr>
      <vt:lpstr>DATA SET</vt:lpstr>
      <vt:lpstr>Technologies</vt:lpstr>
      <vt:lpstr>Module 1:Image Acquisition &amp; Preprocessing</vt:lpstr>
      <vt:lpstr>Module 2:YOLO-Based Road Damage Detection </vt:lpstr>
      <vt:lpstr>Module 3:Severity Assessment and Reporting </vt:lpstr>
      <vt:lpstr>                  Methodology</vt:lpstr>
      <vt:lpstr>RESULTS &amp; DISCUSSION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BASKARAN S</dc:creator>
  <cp:lastModifiedBy>Balyam Harshini</cp:lastModifiedBy>
  <cp:revision>22</cp:revision>
  <dcterms:created xsi:type="dcterms:W3CDTF">2026-01-09T01:43:09Z</dcterms:created>
  <dcterms:modified xsi:type="dcterms:W3CDTF">2026-08-19T05:04:04Z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2025-11-27T05:30:00Z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2026-01-09T05:30:00Z</vt:filetime>
  </property>
  <property fmtid="{D5CDD505-2E9C-101B-9397-08002B2CF9AE}" pid="5" name="Producer">
    <vt:lpwstr>Microsoft® Word 2019</vt:lpwstr>
  </property>
  <property fmtid="{D5CDD505-2E9C-101B-9397-08002B2CF9AE}" pid="6" name="ICV">
    <vt:lpwstr>D2C67E8E397C4C73BF307D1014DD8300_12</vt:lpwstr>
  </property>
  <property fmtid="{D5CDD505-2E9C-101B-9397-08002B2CF9AE}" pid="7" name="KSOProductBuildVer">
    <vt:lpwstr>1033-12.2.0.23196</vt:lpwstr>
  </property>
</Properties>
</file>